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2196F3"/>
                </a:solidFill>
                <a:latin typeface="Calibri"/>
              </a:rPr>
              <a:t>Smart Resume to Job Matcher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1E1E1E"/>
                </a:solidFill>
                <a:latin typeface="Calibri"/>
              </a:rPr>
              <a:t>Semantic Resume–Job Matching using LLMs and Embeddings</a:t>
            </a:r>
          </a:p>
          <a:p/>
          <a:p>
            <a:r>
              <a:rPr sz="1600">
                <a:solidFill>
                  <a:srgbClr val="1E1E1E"/>
                </a:solidFill>
                <a:latin typeface="Calibri"/>
              </a:rPr>
              <a:t>[Author / Team]</a:t>
            </a:r>
          </a:p>
          <a:p>
            <a:r>
              <a:rPr sz="1600">
                <a:solidFill>
                  <a:srgbClr val="1E1E1E"/>
                </a:solidFill>
                <a:latin typeface="Calibri"/>
              </a:rPr>
              <a:t>[Date]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196F3"/>
                </a:solidFill>
                <a:latin typeface="Calibri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E1E1E"/>
                </a:solidFill>
                <a:latin typeface="Calibri"/>
              </a:rPr>
              <a:t>Automated semantic matching between resumes and job descriptions.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Combines Large Language Models with vector embeddings.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Designed for scalable and high-quality recruitment screening.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[Placeholder: Business or academic context]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196F3"/>
                </a:solidFill>
                <a:latin typeface="Calibri"/>
              </a:rPr>
              <a:t>Why This Project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E1E1E"/>
                </a:solidFill>
                <a:latin typeface="Calibri"/>
              </a:rPr>
              <a:t>Keyword-based matching fails to capture true candidate relevance.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Recruiters face overwhelming resume volumes.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Semantic similarity improves fairness and accuracy.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Supports modern, data-driven hiring processes.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196F3"/>
                </a:solidFill>
                <a:latin typeface="Calibri"/>
              </a:rPr>
              <a:t>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E1E1E"/>
                </a:solidFill>
                <a:latin typeface="Calibri"/>
              </a:rPr>
              <a:t>CSV ingestion and raw text extraction.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Two-step normalization using LLMs and Python validation.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Embedding generation with structured templates.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Similarity scoring, ranking, and explanation.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196F3"/>
                </a:solidFill>
                <a:latin typeface="Calibri"/>
              </a:rPr>
              <a:t>Data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E1E1E"/>
                </a:solidFill>
                <a:latin typeface="Calibri"/>
              </a:rPr>
              <a:t>Input data stored as CSV files.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Each row represents one job description or resume.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Relevant columns converted into unified raw text.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[Placeholder: Dataset statistics]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196F3"/>
                </a:solidFill>
                <a:latin typeface="Calibri"/>
              </a:rPr>
              <a:t>Normalization – Step 1 (LLM)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E1E1E"/>
                </a:solidFill>
                <a:latin typeface="Calibri"/>
              </a:rPr>
              <a:t>LLM extracts structured fields from raw text.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Skills, experience, education, and responsibilities identified.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Provides semantic consistency across documents.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196F3"/>
                </a:solidFill>
                <a:latin typeface="Calibri"/>
              </a:rPr>
              <a:t>Normalization – Step 2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E1E1E"/>
                </a:solidFill>
                <a:latin typeface="Calibri"/>
              </a:rPr>
              <a:t>Custom Python logic enforces schema consistency.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Filters malformed or incomplete LLM outputs.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Ensures reliable downstream embedding generation.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196F3"/>
                </a:solidFill>
                <a:latin typeface="Calibri"/>
              </a:rPr>
              <a:t>Embedding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E1E1E"/>
                </a:solidFill>
                <a:latin typeface="Calibri"/>
              </a:rPr>
              <a:t>Fixed embedding templates with placeholders.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Populated with normalized job and resume attributes.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Embeddings reused to reduce computation time.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[Placeholder: Embedding model]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196F3"/>
                </a:solidFill>
                <a:latin typeface="Calibri"/>
              </a:rPr>
              <a:t>Cosine Similarity &amp;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E1E1E"/>
                </a:solidFill>
                <a:latin typeface="Calibri"/>
              </a:rPr>
              <a:t>Embeddings compared using cosine similarity.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Each resume scored against a target job description.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Resumes ranked by descending similarity score.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196F3"/>
                </a:solidFill>
                <a:latin typeface="Calibri"/>
              </a:rPr>
              <a:t>LLM-Based Match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E1E1E"/>
                </a:solidFill>
                <a:latin typeface="Calibri"/>
              </a:rPr>
              <a:t>LLM generates human-readable match explanations.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Highlights strengths, alignment, and gaps.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Improves transparency for recruiters.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196F3"/>
                </a:solidFill>
                <a:latin typeface="Calibri"/>
              </a:rPr>
              <a:t>Challenges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E1E1E"/>
                </a:solidFill>
                <a:latin typeface="Calibri"/>
              </a:rPr>
              <a:t>Large-scale computations led to long runtimes.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Embedding and similarity calculations were expensive.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LLM-only normalization was insufficient.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Hybrid LLM + rule-based approach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196F3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E1E1E"/>
                </a:solidFill>
                <a:latin typeface="Calibri"/>
              </a:rPr>
              <a:t>Demonstrates an end-to-end intelligent matching pipeline.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Balances AI-driven insight with deterministic controls.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Future work: optimization, UI, real-time scoring.</a:t>
            </a:r>
          </a:p>
          <a:p>
            <a:pPr/>
            <a:r>
              <a:rPr sz="1600">
                <a:solidFill>
                  <a:srgbClr val="1E1E1E"/>
                </a:solidFill>
                <a:latin typeface="Calibri"/>
              </a:rPr>
              <a:t>[Placeholder: Deployment roadmap]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